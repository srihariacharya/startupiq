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notesMasterIdLst>
    <p:notesMasterId r:id="rId32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31938-FA68-446E-9952-F352143EDD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5506A-484E-4865-9F5B-5D3C24C4B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7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0FA00-733A-489F-B55E-328D05AA9F71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1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7E71-F3E3-496F-8B48-CB509D2CAA4E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5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7528-0883-49AC-844C-EAE6E76C27A9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32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2317-1C7E-41A0-B6B4-C35A2D0A4C55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8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5904-2835-4269-A348-44ADB1608567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38DD9-9729-4E03-A529-79754FB93E60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0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419E-EBD1-47D2-B42B-8BB4EC2BA76F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9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1D78-0013-46DF-8D22-D316AA16D509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3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D0135-79EB-45E4-9B4E-72E75D70EB51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04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92E17-3C6F-438F-BF39-4532C8668C5A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6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E9B3-D17D-4FB7-A8FB-97CFAF80BB28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42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8352-F517-4C2D-8610-190DE0C17881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0527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67E3-D80B-4F54-8CA7-843F985FA6B0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06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24BD-215D-4527-A03D-A217DCFF1C95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68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DF96-EE3F-4D24-845A-DEC2C1995AE0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24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A896-D661-406E-8E8B-EDDE9A0EE461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99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4172-D2BC-489B-8140-CB75D2623CCD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2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4DBB0-22BE-4DE2-96B7-242C1B15C88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427D-B775-4E33-A141-D8668D4DA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215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F3E9-F7AF-77F4-4334-3DF4797A4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804333"/>
            <a:ext cx="9001462" cy="1854200"/>
          </a:xfrm>
        </p:spPr>
        <p:txBody>
          <a:bodyPr>
            <a:normAutofit/>
          </a:bodyPr>
          <a:lstStyle/>
          <a:p>
            <a:r>
              <a:rPr lang="en-US" sz="4000" dirty="0"/>
              <a:t>StartupIQ: AI-Powered Startup Feasibility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5A90C-6633-94BE-C119-99F4B86D0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933" y="2791618"/>
            <a:ext cx="4538134" cy="1323181"/>
          </a:xfrm>
        </p:spPr>
        <p:txBody>
          <a:bodyPr>
            <a:normAutofit/>
          </a:bodyPr>
          <a:lstStyle/>
          <a:p>
            <a:r>
              <a:rPr lang="en-US" sz="1800" dirty="0"/>
              <a:t>Name: Srihari Acharya</a:t>
            </a:r>
          </a:p>
          <a:p>
            <a:r>
              <a:rPr lang="en-US" sz="1800" dirty="0"/>
              <a:t>USN: 4SO24MC101</a:t>
            </a:r>
          </a:p>
          <a:p>
            <a:r>
              <a:rPr lang="en-US" sz="1800" dirty="0"/>
              <a:t>3rd Semester MCA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14821F-5FD0-3273-4083-A7798E2A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5883275"/>
            <a:ext cx="10287606" cy="365125"/>
          </a:xfrm>
        </p:spPr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95B34B-CA29-8445-EA4D-52EA4895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</a:t>
            </a:fld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E653B1D-CDBE-6DDD-4E89-3D0A18001530}"/>
              </a:ext>
            </a:extLst>
          </p:cNvPr>
          <p:cNvSpPr txBox="1">
            <a:spLocks/>
          </p:cNvSpPr>
          <p:nvPr/>
        </p:nvSpPr>
        <p:spPr>
          <a:xfrm>
            <a:off x="1752600" y="4723342"/>
            <a:ext cx="1617134" cy="44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31CF4B-5C6E-C5A2-C246-6E46B1458201}"/>
              </a:ext>
            </a:extLst>
          </p:cNvPr>
          <p:cNvSpPr txBox="1"/>
          <p:nvPr/>
        </p:nvSpPr>
        <p:spPr>
          <a:xfrm>
            <a:off x="1329267" y="4524329"/>
            <a:ext cx="2497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Ms. Nishmitha J Assistant Professor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79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FB68-9E50-DF15-390B-EDAB66A7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DCE8-1820-1C40-36D0-C26D7A474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2096064"/>
            <a:ext cx="11108266" cy="3695136"/>
          </a:xfrm>
        </p:spPr>
        <p:txBody>
          <a:bodyPr/>
          <a:lstStyle/>
          <a:p>
            <a:r>
              <a:rPr lang="en-US" b="1" dirty="0"/>
              <a:t>The Problem:</a:t>
            </a:r>
            <a:r>
              <a:rPr lang="en-US" dirty="0"/>
              <a:t> 90% of early-stage ventures fail due to a lack of market need, poor financial planning, and inadequate validation.</a:t>
            </a:r>
          </a:p>
          <a:p>
            <a:r>
              <a:rPr lang="en-US" b="1" dirty="0"/>
              <a:t>Current Gap:</a:t>
            </a:r>
            <a:r>
              <a:rPr lang="en-US" dirty="0"/>
              <a:t> Professional validation (consultants) is expensive, while free AI chatbots often "hallucinate" numbers and lack business context.</a:t>
            </a:r>
          </a:p>
          <a:p>
            <a:r>
              <a:rPr lang="en-US" b="1" dirty="0"/>
              <a:t>Our Solution:</a:t>
            </a:r>
            <a:r>
              <a:rPr lang="en-US" dirty="0"/>
              <a:t> </a:t>
            </a:r>
            <a:r>
              <a:rPr lang="en-US" b="1" dirty="0"/>
              <a:t>StartupIQ</a:t>
            </a:r>
            <a:r>
              <a:rPr lang="en-US" dirty="0"/>
              <a:t> – An AI-powered platform that democratizes business intelligence.</a:t>
            </a:r>
          </a:p>
          <a:p>
            <a:r>
              <a:rPr lang="en-US" b="1" dirty="0"/>
              <a:t>Core Concept:</a:t>
            </a:r>
            <a:r>
              <a:rPr lang="en-US" dirty="0"/>
              <a:t> Combines </a:t>
            </a:r>
            <a:r>
              <a:rPr lang="en-US" b="1" dirty="0"/>
              <a:t>Generative AI</a:t>
            </a:r>
            <a:r>
              <a:rPr lang="en-US" dirty="0"/>
              <a:t> (for creative reasoning) with </a:t>
            </a:r>
            <a:r>
              <a:rPr lang="en-US" b="1" dirty="0"/>
              <a:t>Machine Learning</a:t>
            </a:r>
            <a:r>
              <a:rPr lang="en-US" dirty="0"/>
              <a:t> (for financial precision)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29600-F297-B7B0-CB21-7D37061D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2BF0E-A014-C172-C0BD-E603091C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6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8BC19-E476-EBA8-0E0F-E8DDB4A4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1A48A-D690-25EB-E554-B01F6833D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35921"/>
            <a:ext cx="11125200" cy="3779079"/>
          </a:xfrm>
        </p:spPr>
        <p:txBody>
          <a:bodyPr/>
          <a:lstStyle/>
          <a:p>
            <a:r>
              <a:rPr lang="en-US" b="1" dirty="0"/>
              <a:t>High Barrier to Entry:</a:t>
            </a:r>
            <a:r>
              <a:rPr lang="en-US" dirty="0"/>
              <a:t> Professional feasibility studies cost more, making them inaccessible to students.</a:t>
            </a:r>
          </a:p>
          <a:p>
            <a:r>
              <a:rPr lang="en-US" b="1" dirty="0"/>
              <a:t>Reliability Issues:</a:t>
            </a:r>
            <a:r>
              <a:rPr lang="en-US" dirty="0"/>
              <a:t> Existing AI wrappers often crash during network instability, lacking resilience.</a:t>
            </a:r>
          </a:p>
          <a:p>
            <a:r>
              <a:rPr lang="en-US" b="1" dirty="0"/>
              <a:t>Need for Objectivity:</a:t>
            </a:r>
            <a:r>
              <a:rPr lang="en-US" dirty="0"/>
              <a:t> Founders need unbiased, data-driven feedback rather than emotional guesswork.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27982-6514-2700-0E8F-47DF1F55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94AE4-B00B-AD3C-C433-DB570E1E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2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70E6-DF9D-9D12-6080-B62650EAE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EF46B-242B-CBF1-0F45-FB82E62A8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096064"/>
            <a:ext cx="11082867" cy="3178669"/>
          </a:xfrm>
        </p:spPr>
        <p:txBody>
          <a:bodyPr/>
          <a:lstStyle/>
          <a:p>
            <a:r>
              <a:rPr lang="en-US" dirty="0"/>
              <a:t>The project addresses the volatility of the startup ecosystem by providing an automated decision-support system.</a:t>
            </a:r>
          </a:p>
          <a:p>
            <a:r>
              <a:rPr lang="en-US" b="1" dirty="0"/>
              <a:t>Key Innovation:</a:t>
            </a:r>
            <a:r>
              <a:rPr lang="en-US" dirty="0"/>
              <a:t> A "Smart Fallback" mechanism ensures reliability even during API outages.</a:t>
            </a:r>
          </a:p>
          <a:p>
            <a:r>
              <a:rPr lang="en-US" b="1" dirty="0"/>
              <a:t>Outcome:</a:t>
            </a:r>
            <a:r>
              <a:rPr lang="en-US" dirty="0"/>
              <a:t> Users receive a professional, zero-cost feasibility report and valuation estimate instantly.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628CA-4D99-9F92-D303-7535D2BF3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2060A-EEF3-F338-2FA1-5603BF35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A80A-724A-073F-0F8F-C21F354E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1230B-9E4D-9B52-EBBA-CF340CC83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6" y="2096064"/>
            <a:ext cx="11319933" cy="3449603"/>
          </a:xfrm>
        </p:spPr>
        <p:txBody>
          <a:bodyPr/>
          <a:lstStyle/>
          <a:p>
            <a:r>
              <a:rPr lang="en-US" b="1" dirty="0"/>
              <a:t>Automate Validation:</a:t>
            </a:r>
            <a:r>
              <a:rPr lang="en-US" dirty="0"/>
              <a:t> To provide instant, unbiased SWOT analysis using Generative AI, reducing research time from weeks to seconds.</a:t>
            </a:r>
          </a:p>
          <a:p>
            <a:r>
              <a:rPr lang="en-US" b="1" dirty="0"/>
              <a:t>Estimate Financial Value:</a:t>
            </a:r>
            <a:r>
              <a:rPr lang="en-US" dirty="0"/>
              <a:t> To predict startup valuation using a Linear Regression model trained on Indian market benchmarks.</a:t>
            </a:r>
          </a:p>
          <a:p>
            <a:r>
              <a:rPr lang="en-US" b="1" dirty="0"/>
              <a:t>Ensure Reliability:</a:t>
            </a:r>
            <a:r>
              <a:rPr lang="en-US" dirty="0"/>
              <a:t> To engineer a "Smart Fallback" system that generates synthetic data if external APIs fail.</a:t>
            </a:r>
          </a:p>
          <a:p>
            <a:r>
              <a:rPr lang="en-US" b="1" dirty="0"/>
              <a:t>Professional Reporting:</a:t>
            </a:r>
            <a:r>
              <a:rPr lang="en-US" dirty="0"/>
              <a:t> To generate investor-ready PDF reports via client-side rendering.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35968-1A2F-EB2A-40EC-4D5C6B6E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4BB0B-B4A2-5EAB-EF4B-DE932418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9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CEF7-8C38-BF51-975B-2C092313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08A37-0FF0-3642-2D81-3FF0E1BA1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3" y="2096064"/>
            <a:ext cx="11175999" cy="3297203"/>
          </a:xfrm>
        </p:spPr>
        <p:txBody>
          <a:bodyPr/>
          <a:lstStyle/>
          <a:p>
            <a:r>
              <a:rPr lang="en-US" b="1" dirty="0"/>
              <a:t>Qualitative Analysis:</a:t>
            </a:r>
            <a:r>
              <a:rPr lang="en-US" dirty="0"/>
              <a:t> Uses Google Gemini 1.5 Flash for "Chain-of-Thought" reasoning to generate SWOT analysis.</a:t>
            </a:r>
          </a:p>
          <a:p>
            <a:r>
              <a:rPr lang="en-US" b="1" dirty="0"/>
              <a:t>Quantitative Analysis:</a:t>
            </a:r>
            <a:r>
              <a:rPr lang="en-US" dirty="0"/>
              <a:t> Uses Scikit-Learn (Linear Regression) for transparent, formula-based valuation.</a:t>
            </a:r>
          </a:p>
          <a:p>
            <a:r>
              <a:rPr lang="en-US" b="1" dirty="0"/>
              <a:t>Resilience Engineering:</a:t>
            </a:r>
            <a:r>
              <a:rPr lang="en-US" dirty="0"/>
              <a:t> Implements a fallback engine to handle API failures gracefully.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31D05-68FD-A4A1-232A-F99DC780D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D39C9-2817-E1B7-64F2-724BA359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8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4C7E-D3FB-15EA-33EB-9D995F0A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32348-D0D9-8D79-4D06-EE7AF95DA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67" y="2096064"/>
            <a:ext cx="11108266" cy="3695136"/>
          </a:xfrm>
        </p:spPr>
        <p:txBody>
          <a:bodyPr/>
          <a:lstStyle/>
          <a:p>
            <a:r>
              <a:rPr lang="en-US" b="1" dirty="0"/>
              <a:t>Context-Aware Idea Generator:</a:t>
            </a:r>
            <a:r>
              <a:rPr lang="en-US" dirty="0"/>
              <a:t> Expands keywords into Physical, Digital, and Service-based business models.</a:t>
            </a:r>
          </a:p>
          <a:p>
            <a:r>
              <a:rPr lang="en-US" b="1" dirty="0"/>
              <a:t>Feasibility Analyzer:</a:t>
            </a:r>
            <a:r>
              <a:rPr lang="en-US" dirty="0"/>
              <a:t> Generates a "Viability Score" (0-100) and color-coded feedback.</a:t>
            </a:r>
          </a:p>
          <a:p>
            <a:r>
              <a:rPr lang="en-US" b="1" dirty="0"/>
              <a:t>Resilience Mode:</a:t>
            </a:r>
            <a:r>
              <a:rPr lang="en-US" dirty="0"/>
              <a:t> Automatically switches to local logic templates if the internet/API drops.</a:t>
            </a:r>
          </a:p>
          <a:p>
            <a:r>
              <a:rPr lang="en-US" b="1" dirty="0"/>
              <a:t>One-Click Reporting:</a:t>
            </a:r>
            <a:r>
              <a:rPr lang="en-US" dirty="0"/>
              <a:t> Compiles all insights into a downloadable PDF directly in the browser.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DAC33-281F-A47F-81DB-CBF7C8ED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27AE3-9C0B-E197-5ACF-578530DA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8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A068-9F92-F1E0-4364-19C3932C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423333"/>
            <a:ext cx="10353761" cy="999067"/>
          </a:xfrm>
        </p:spPr>
        <p:txBody>
          <a:bodyPr/>
          <a:lstStyle/>
          <a:p>
            <a:r>
              <a:rPr lang="en-US" dirty="0"/>
              <a:t>SRS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B5F0C-544D-2A68-3CBD-5C3276981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549400"/>
            <a:ext cx="10896600" cy="4250266"/>
          </a:xfrm>
        </p:spPr>
        <p:txBody>
          <a:bodyPr/>
          <a:lstStyle/>
          <a:p>
            <a:r>
              <a:rPr lang="en-US" b="1" dirty="0"/>
              <a:t>Purpose:</a:t>
            </a:r>
            <a:r>
              <a:rPr lang="en-US" dirty="0"/>
              <a:t> To democratize business intelligence for student entrepreneurs lacking resources .</a:t>
            </a:r>
          </a:p>
          <a:p>
            <a:r>
              <a:rPr lang="en-US" b="1" dirty="0"/>
              <a:t>Goal:</a:t>
            </a:r>
            <a:r>
              <a:rPr lang="en-US" dirty="0"/>
              <a:t> To serve as a digital "Technical Co-Founder" that bridges the gap between raw ideas and validation .</a:t>
            </a:r>
          </a:p>
          <a:p>
            <a:r>
              <a:rPr lang="en-US" b="1" dirty="0"/>
              <a:t>Problem Solved:</a:t>
            </a:r>
            <a:r>
              <a:rPr lang="en-US" dirty="0"/>
              <a:t> Replaces expensive consulting with an instant, zero-cost AI feasibility study .</a:t>
            </a:r>
          </a:p>
          <a:p>
            <a:r>
              <a:rPr lang="en-US" b="1" dirty="0"/>
              <a:t>Key Innovation:</a:t>
            </a:r>
            <a:r>
              <a:rPr lang="en-US" dirty="0"/>
              <a:t> Combines creative Generative AI reasoning with precise mathematical valuation models.</a:t>
            </a:r>
          </a:p>
          <a:p>
            <a:r>
              <a:rPr lang="en-US" b="1" dirty="0"/>
              <a:t>System Reliability:</a:t>
            </a:r>
            <a:r>
              <a:rPr lang="en-US" dirty="0"/>
              <a:t> Engineered with a "Smart Fallback" mechanism to ensure 100% uptime during demos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FACE0-2387-671A-F431-891D8966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2401A-D722-CE44-EBAA-B93E9FD9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4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9AC0-7931-1952-5FE6-E9461579F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024467"/>
          </a:xfrm>
        </p:spPr>
        <p:txBody>
          <a:bodyPr/>
          <a:lstStyle/>
          <a:p>
            <a:r>
              <a:rPr lang="en-US" dirty="0"/>
              <a:t>SRS 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878A-E27F-D993-B7A0-D3B669D8D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733" y="1854201"/>
            <a:ext cx="11049000" cy="3945466"/>
          </a:xfrm>
        </p:spPr>
        <p:txBody>
          <a:bodyPr>
            <a:normAutofit/>
          </a:bodyPr>
          <a:lstStyle/>
          <a:p>
            <a:r>
              <a:rPr lang="en-US" b="1" dirty="0"/>
              <a:t>Ideation Module:</a:t>
            </a:r>
            <a:r>
              <a:rPr lang="en-US" dirty="0"/>
              <a:t> Expands simple keywords into distinct Physical, Digital, and Service-based business models .</a:t>
            </a:r>
          </a:p>
          <a:p>
            <a:r>
              <a:rPr lang="en-US" b="1" dirty="0"/>
              <a:t>Validation Engine:</a:t>
            </a:r>
            <a:r>
              <a:rPr lang="en-US" dirty="0"/>
              <a:t> Acts as an objective critic, generating a "Viability Score" (0-100) and SWOT analysis.</a:t>
            </a:r>
          </a:p>
          <a:p>
            <a:r>
              <a:rPr lang="en-US" b="1" dirty="0"/>
              <a:t>Valuation Calculator:</a:t>
            </a:r>
            <a:r>
              <a:rPr lang="en-US" dirty="0"/>
              <a:t> Predicts Pre-Money Valuation using a Linear Regression model</a:t>
            </a:r>
          </a:p>
          <a:p>
            <a:r>
              <a:rPr lang="en-US" b="1" dirty="0"/>
              <a:t>Resilience Layer:</a:t>
            </a:r>
            <a:r>
              <a:rPr lang="en-US" dirty="0"/>
              <a:t> Automatically switches to local logic templates if the external AI API fails .</a:t>
            </a:r>
          </a:p>
          <a:p>
            <a:r>
              <a:rPr lang="en-US" b="1" dirty="0"/>
              <a:t>Reporting System:</a:t>
            </a:r>
            <a:r>
              <a:rPr lang="en-US" dirty="0"/>
              <a:t> Compiles all charts and insights into a professional, downloadable PDF report 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C4DF5-E696-8376-A86D-1263E290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0A233-2CC4-93A7-1440-005E32AE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98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81DC-51A6-8599-0AB4-E3004395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SRS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3F32A-C020-14DB-3639-7F326F945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Student Entrepreneurs:</a:t>
            </a:r>
            <a:r>
              <a:rPr lang="en-US" dirty="0"/>
              <a:t> Technical individuals needing business structure and strategic guidance .</a:t>
            </a:r>
          </a:p>
          <a:p>
            <a:r>
              <a:rPr lang="en-US" b="1" dirty="0"/>
              <a:t>Early-Stage Founders:</a:t>
            </a:r>
            <a:r>
              <a:rPr lang="en-US" dirty="0"/>
              <a:t> Inventors seeking quick validation for "napkin sketch" concepts before building an MVP.</a:t>
            </a:r>
          </a:p>
          <a:p>
            <a:r>
              <a:rPr lang="en-US" b="1" dirty="0"/>
              <a:t>Incubator Managers:</a:t>
            </a:r>
            <a:r>
              <a:rPr lang="en-US" dirty="0"/>
              <a:t> Mentors requiring a standardized "Viability Score" to efficiently filter startup applications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CA7E97-37B9-C27C-991A-2E434618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21738-43F4-56AA-2F31-069B1AFF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83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DB94-C622-CCEA-420D-811F5D6D8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193800"/>
          </a:xfrm>
        </p:spPr>
        <p:txBody>
          <a:bodyPr/>
          <a:lstStyle/>
          <a:p>
            <a:r>
              <a:rPr lang="en-US" dirty="0"/>
              <a:t>SRS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04183-296F-62A4-1B92-E917004EB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03400"/>
            <a:ext cx="10473872" cy="3886200"/>
          </a:xfrm>
        </p:spPr>
        <p:txBody>
          <a:bodyPr/>
          <a:lstStyle/>
          <a:p>
            <a:r>
              <a:rPr lang="en-US" b="1" dirty="0"/>
              <a:t>Processor:</a:t>
            </a:r>
            <a:r>
              <a:rPr lang="en-US" dirty="0"/>
              <a:t> Intel Core i5 (Gen 8) / AMD Ryzen 5 or higher.</a:t>
            </a:r>
          </a:p>
          <a:p>
            <a:r>
              <a:rPr lang="en-US" b="1" dirty="0"/>
              <a:t>RAM:</a:t>
            </a:r>
            <a:r>
              <a:rPr lang="en-US" dirty="0"/>
              <a:t> 8 GB or higher recommended for smooth React rendering.</a:t>
            </a:r>
          </a:p>
          <a:p>
            <a:r>
              <a:rPr lang="en-US" b="1" dirty="0"/>
              <a:t>Network:</a:t>
            </a:r>
            <a:r>
              <a:rPr lang="en-US" dirty="0"/>
              <a:t> Stable Broadband/4G connection required for real-time API calls.</a:t>
            </a:r>
          </a:p>
          <a:p>
            <a:r>
              <a:rPr lang="en-US" b="1" dirty="0"/>
              <a:t>Display:</a:t>
            </a:r>
            <a:r>
              <a:rPr lang="en-US" dirty="0"/>
              <a:t> 1920x1080 (Full HD) resolution for optimal dashboard viewing.</a:t>
            </a:r>
          </a:p>
          <a:p>
            <a:r>
              <a:rPr lang="en-US" b="1" dirty="0"/>
              <a:t>OS:</a:t>
            </a:r>
            <a:r>
              <a:rPr lang="en-US" dirty="0"/>
              <a:t> Compatible with Windows 10/11, Linux (Ubuntu), or macOS.</a:t>
            </a:r>
          </a:p>
          <a:p>
            <a:r>
              <a:rPr lang="en-US" b="1" dirty="0"/>
              <a:t>Frontend:</a:t>
            </a:r>
            <a:r>
              <a:rPr lang="en-US" dirty="0"/>
              <a:t> Built on React.js (v18+) with Tailwind CSS framework.</a:t>
            </a:r>
          </a:p>
          <a:p>
            <a:r>
              <a:rPr lang="en-US" b="1" dirty="0"/>
              <a:t>Backend:</a:t>
            </a:r>
            <a:r>
              <a:rPr lang="en-US" dirty="0"/>
              <a:t> Powered by Python 3.9+ and Flask micro-framework.</a:t>
            </a:r>
          </a:p>
          <a:p>
            <a:r>
              <a:rPr lang="en-US" b="1" dirty="0"/>
              <a:t>Browser:</a:t>
            </a:r>
            <a:r>
              <a:rPr lang="en-US" dirty="0"/>
              <a:t> Optimized for latest Google Chrome, Edge, or Mozilla Firefox.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F7EE-79B8-9F0F-31E8-BCFA343F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241CC-DDBF-03DF-B3CE-F1BBF455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88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9925-FEF6-D481-077A-05D29396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5ED8-4F62-8D4E-66E6-1DB4F24AC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2096064"/>
            <a:ext cx="10854267" cy="3508869"/>
          </a:xfrm>
        </p:spPr>
        <p:txBody>
          <a:bodyPr/>
          <a:lstStyle/>
          <a:p>
            <a:r>
              <a:rPr lang="en-US" b="1" dirty="0"/>
              <a:t>Input Validation:</a:t>
            </a:r>
            <a:r>
              <a:rPr lang="en-US" dirty="0"/>
              <a:t> System must reject pitches shorter than 50 characters and negative financial values .</a:t>
            </a:r>
          </a:p>
          <a:p>
            <a:r>
              <a:rPr lang="en-US" b="1" dirty="0"/>
              <a:t>AI Processing:</a:t>
            </a:r>
            <a:r>
              <a:rPr lang="en-US" dirty="0"/>
              <a:t> System must parse unstructured text from Gemini into structured JSON.</a:t>
            </a:r>
          </a:p>
          <a:p>
            <a:r>
              <a:rPr lang="en-US" b="1" dirty="0"/>
              <a:t>Resilience:</a:t>
            </a:r>
            <a:r>
              <a:rPr lang="en-US" dirty="0"/>
              <a:t> System must trigger "Smart Fallback" logic if the API returns Error 429 or 500.</a:t>
            </a:r>
          </a:p>
          <a:p>
            <a:r>
              <a:rPr lang="en-US" b="1" dirty="0"/>
              <a:t>Reporting:</a:t>
            </a:r>
            <a:r>
              <a:rPr lang="en-US" dirty="0"/>
              <a:t> System must generate the PDF report on the client side to ensure data privacy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A870B-BBF2-5B81-C677-557B9BDB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1ADFE-C9B5-DE52-ED27-64EDF93E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90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236B-1844-188C-4814-4DAF3FA0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261532"/>
          </a:xfrm>
        </p:spPr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568F-BE6A-662A-20F9-9F18EA96F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81201"/>
            <a:ext cx="11048999" cy="3352799"/>
          </a:xfrm>
        </p:spPr>
        <p:txBody>
          <a:bodyPr/>
          <a:lstStyle/>
          <a:p>
            <a:r>
              <a:rPr lang="en-US" dirty="0"/>
              <a:t>System generates feasibility analysis within </a:t>
            </a:r>
            <a:r>
              <a:rPr lang="en-US" b="1" dirty="0"/>
              <a:t>3-5 seconds</a:t>
            </a:r>
            <a:r>
              <a:rPr lang="en-US" dirty="0"/>
              <a:t> under normal network conditions.</a:t>
            </a:r>
          </a:p>
          <a:p>
            <a:r>
              <a:rPr lang="en-US" dirty="0"/>
              <a:t>Backend architecture supports a throughput of </a:t>
            </a:r>
            <a:r>
              <a:rPr lang="en-US" b="1" dirty="0"/>
              <a:t>1,500 requests/day</a:t>
            </a:r>
            <a:r>
              <a:rPr lang="en-US" dirty="0"/>
              <a:t> via Gemini API.</a:t>
            </a:r>
          </a:p>
          <a:p>
            <a:r>
              <a:rPr lang="en-US" b="1" dirty="0"/>
              <a:t>"Smart Fallback"</a:t>
            </a:r>
            <a:r>
              <a:rPr lang="en-US" dirty="0"/>
              <a:t> ensures application stability during external API outages .</a:t>
            </a:r>
          </a:p>
          <a:p>
            <a:r>
              <a:rPr lang="en-US" dirty="0"/>
              <a:t>Strict </a:t>
            </a:r>
            <a:r>
              <a:rPr lang="en-US" b="1" dirty="0"/>
              <a:t>Input Sanitization</a:t>
            </a:r>
            <a:r>
              <a:rPr lang="en-US" dirty="0"/>
              <a:t> prevents injection attacks and negative financial values.</a:t>
            </a:r>
          </a:p>
          <a:p>
            <a:r>
              <a:rPr lang="en-US" altLang="en-US" b="1" dirty="0">
                <a:effectLst/>
                <a:latin typeface="Arial" panose="020B0604020202020204" pitchFamily="34" charset="0"/>
              </a:rPr>
              <a:t>Client-Side PDF Generation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 ensures user data privacy and speed.</a:t>
            </a:r>
            <a:endParaRPr lang="en-US" dirty="0"/>
          </a:p>
          <a:p>
            <a:r>
              <a:rPr lang="en-US" dirty="0"/>
              <a:t>System achieves </a:t>
            </a:r>
            <a:r>
              <a:rPr lang="en-US" b="1" dirty="0"/>
              <a:t>99.9% reliability</a:t>
            </a:r>
            <a:r>
              <a:rPr lang="en-US" dirty="0"/>
              <a:t> during demonstrations due to fallback logic.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48EAF56-B8DD-D915-A79C-E3BAC9554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EA2A3-79A6-9729-E81D-2944CF9F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CACD9-63E0-77E3-6BB3-EB32EC4D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2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2B7D-6764-523A-BB1C-53A98B0D0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FED3-7A4E-AAFE-7CD4-93192320C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2096064"/>
            <a:ext cx="10541000" cy="3407269"/>
          </a:xfrm>
        </p:spPr>
        <p:txBody>
          <a:bodyPr/>
          <a:lstStyle/>
          <a:p>
            <a:r>
              <a:rPr lang="en-US" b="1" dirty="0"/>
              <a:t>Traditional Consulting:</a:t>
            </a:r>
            <a:r>
              <a:rPr lang="en-US" dirty="0"/>
              <a:t> Expert-driven but costly and inaccessible for students .</a:t>
            </a:r>
          </a:p>
          <a:p>
            <a:r>
              <a:rPr lang="en-US" b="1" dirty="0"/>
              <a:t>Static Calculators:</a:t>
            </a:r>
            <a:r>
              <a:rPr lang="en-US" dirty="0"/>
              <a:t> Web forms like </a:t>
            </a:r>
            <a:r>
              <a:rPr lang="en-US" dirty="0" err="1"/>
              <a:t>LivePlan</a:t>
            </a:r>
            <a:r>
              <a:rPr lang="en-US" dirty="0"/>
              <a:t> lack context and reasoning capabilities .</a:t>
            </a:r>
          </a:p>
          <a:p>
            <a:r>
              <a:rPr lang="en-US" b="1" dirty="0"/>
              <a:t>General AI Chatbots:</a:t>
            </a:r>
            <a:r>
              <a:rPr lang="en-US" dirty="0"/>
              <a:t> LLMs often "hallucinate" financial numbers and lack structure .</a:t>
            </a:r>
          </a:p>
          <a:p>
            <a:r>
              <a:rPr lang="en-US" b="1" dirty="0"/>
              <a:t>Gap Identified:</a:t>
            </a:r>
            <a:r>
              <a:rPr lang="en-US" dirty="0"/>
              <a:t> No single tool combines creative ideation with precise financial math.</a:t>
            </a:r>
          </a:p>
          <a:p>
            <a:r>
              <a:rPr lang="en-US" b="1" dirty="0"/>
              <a:t>Proposed Solution:</a:t>
            </a:r>
            <a:r>
              <a:rPr lang="en-US" dirty="0"/>
              <a:t> A hybrid system integrating </a:t>
            </a:r>
            <a:r>
              <a:rPr lang="en-US" b="1" dirty="0"/>
              <a:t>GenAI</a:t>
            </a:r>
            <a:r>
              <a:rPr lang="en-US" dirty="0"/>
              <a:t> for logic and </a:t>
            </a:r>
            <a:r>
              <a:rPr lang="en-US" b="1" dirty="0"/>
              <a:t>Regression</a:t>
            </a:r>
            <a:r>
              <a:rPr lang="en-US" dirty="0"/>
              <a:t> for valuation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9D1A8-C928-E44B-63D3-3EF399C8F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2EB58-2CAC-2B2C-DB00-41147608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7EF0-2745-FB0B-5924-3563CB3E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 Flow Diagram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551E46-306D-7409-0013-DE7C0A30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Visualizes the high-level circular flow where the Entrepreneur inputs raw data and the System processes it to return actionable Feasibility and Valuation insights 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4CBD8E-7BAE-7573-1457-7D2B1A27C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267" y="3036852"/>
            <a:ext cx="4927600" cy="204314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00B60-C4CD-6A7E-1E51-4F35082B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63640-C622-7ACF-8731-44F51E78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4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FCAB1-84F7-B18A-C936-0FF26C0D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176867"/>
          </a:xfrm>
        </p:spPr>
        <p:txBody>
          <a:bodyPr/>
          <a:lstStyle/>
          <a:p>
            <a:r>
              <a:rPr lang="en-US" dirty="0">
                <a:effectLst/>
              </a:rPr>
              <a:t>LEVEL 1 DFD FOR USER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16D4D-8FD2-87D3-7E95-857BFF5D1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86467"/>
            <a:ext cx="10353762" cy="4097865"/>
          </a:xfrm>
        </p:spPr>
        <p:txBody>
          <a:bodyPr/>
          <a:lstStyle/>
          <a:p>
            <a:r>
              <a:rPr lang="en-US" b="1" dirty="0"/>
              <a:t>DFD Level 1:</a:t>
            </a:r>
            <a:r>
              <a:rPr lang="en-US" dirty="0"/>
              <a:t> Illustrates how user inputs are validated, processed in parallel by </a:t>
            </a:r>
            <a:r>
              <a:rPr lang="en-US" b="1" dirty="0"/>
              <a:t>AI (Gemini)</a:t>
            </a:r>
            <a:r>
              <a:rPr lang="en-US" dirty="0"/>
              <a:t> and </a:t>
            </a:r>
            <a:r>
              <a:rPr lang="en-US" b="1" dirty="0"/>
              <a:t>Math (Regression)</a:t>
            </a:r>
            <a:r>
              <a:rPr lang="en-US" dirty="0"/>
              <a:t>, and merged into a final report 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E12788-CD3E-D1E7-4502-309E1C230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935" y="2777068"/>
            <a:ext cx="5841998" cy="28448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DE487-7DBA-B529-83C5-EB26697C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19516-86DF-782F-C326-EF2F6928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55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4F746-798B-2251-6C13-8A80C8F2D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075267"/>
          </a:xfrm>
        </p:spPr>
        <p:txBody>
          <a:bodyPr/>
          <a:lstStyle/>
          <a:p>
            <a:r>
              <a:rPr lang="en-US" dirty="0">
                <a:effectLst/>
              </a:rPr>
              <a:t>USE CASE DIAGRAM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916F0-0B68-54F2-6801-3E71506A9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684867"/>
            <a:ext cx="10752666" cy="4106333"/>
          </a:xfrm>
        </p:spPr>
        <p:txBody>
          <a:bodyPr/>
          <a:lstStyle/>
          <a:p>
            <a:r>
              <a:rPr lang="en-US" b="1" dirty="0"/>
              <a:t>Interaction Logic:</a:t>
            </a:r>
            <a:r>
              <a:rPr lang="en-US" dirty="0"/>
              <a:t> Visualizes the complete workflow where </a:t>
            </a:r>
            <a:r>
              <a:rPr lang="en-US" b="1" dirty="0"/>
              <a:t>User Submission</a:t>
            </a:r>
            <a:r>
              <a:rPr lang="en-US" dirty="0"/>
              <a:t> triggers automated </a:t>
            </a:r>
            <a:r>
              <a:rPr lang="en-US" b="1" dirty="0"/>
              <a:t>Validation</a:t>
            </a:r>
            <a:r>
              <a:rPr lang="en-US" dirty="0"/>
              <a:t>, </a:t>
            </a:r>
            <a:r>
              <a:rPr lang="en-US" b="1" dirty="0"/>
              <a:t>AI Analysis</a:t>
            </a:r>
            <a:r>
              <a:rPr lang="en-US" dirty="0"/>
              <a:t> (via Gemini), and </a:t>
            </a:r>
            <a:r>
              <a:rPr lang="en-US" b="1" dirty="0"/>
              <a:t>Report Generation</a:t>
            </a:r>
            <a:r>
              <a:rPr lang="en-US" dirty="0"/>
              <a:t>, supported by a </a:t>
            </a:r>
            <a:r>
              <a:rPr lang="en-US" b="1" dirty="0"/>
              <a:t>Smart Fallback</a:t>
            </a:r>
            <a:r>
              <a:rPr lang="en-US" dirty="0"/>
              <a:t> safety mechanism.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AF80B-4D50-F421-A33B-98B870B8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266" y="2937933"/>
            <a:ext cx="7010400" cy="276013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73A6-94AE-85F1-1DB5-E42CA52A9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FAB5E-FF12-DE01-36CB-A8AD683F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5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2016-0E02-CA7F-A40E-7FF652D9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90599"/>
          </a:xfrm>
        </p:spPr>
        <p:txBody>
          <a:bodyPr/>
          <a:lstStyle/>
          <a:p>
            <a:r>
              <a:rPr lang="en-US" dirty="0">
                <a:effectLst/>
              </a:rPr>
              <a:t>SEQUENCE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09C10-DF59-BB38-7E2C-0110D0F47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00200"/>
            <a:ext cx="10353762" cy="4216400"/>
          </a:xfrm>
        </p:spPr>
        <p:txBody>
          <a:bodyPr/>
          <a:lstStyle/>
          <a:p>
            <a:r>
              <a:rPr lang="en-US" b="1" dirty="0"/>
              <a:t>Execution Flow:</a:t>
            </a:r>
            <a:r>
              <a:rPr lang="en-US" dirty="0"/>
              <a:t> Visualizes the timeline where the </a:t>
            </a:r>
            <a:r>
              <a:rPr lang="en-US" b="1" dirty="0"/>
              <a:t>Flask Backend</a:t>
            </a:r>
            <a:r>
              <a:rPr lang="en-US" dirty="0"/>
              <a:t> orchestrates parallel execution of </a:t>
            </a:r>
            <a:r>
              <a:rPr lang="en-US" b="1" dirty="0"/>
              <a:t>AI Analysis</a:t>
            </a:r>
            <a:r>
              <a:rPr lang="en-US" dirty="0"/>
              <a:t> (Gemini) and </a:t>
            </a:r>
            <a:r>
              <a:rPr lang="en-US" b="1" dirty="0"/>
              <a:t>Financial Modeling</a:t>
            </a:r>
            <a:r>
              <a:rPr lang="en-US" dirty="0"/>
              <a:t> (Regression) to deliver instant, aggregated results to the user.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9763F-4D9C-11D1-FA03-9E96743E0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175" y="2836333"/>
            <a:ext cx="7239000" cy="30734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725BE-2812-F0F7-D5E6-C78602A1A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49EF7-77B1-2927-6631-86A42C24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8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DA07D-085B-F9EF-C4B5-0E77D85DA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99533"/>
            <a:ext cx="10353761" cy="1024465"/>
          </a:xfrm>
        </p:spPr>
        <p:txBody>
          <a:bodyPr/>
          <a:lstStyle/>
          <a:p>
            <a:r>
              <a:rPr lang="en-US" dirty="0">
                <a:effectLst/>
              </a:rPr>
              <a:t>ACTIVITY DIAGRAM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4D391-393B-FC70-FC3C-C53AC197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23999"/>
            <a:ext cx="10353762" cy="4834467"/>
          </a:xfrm>
        </p:spPr>
        <p:txBody>
          <a:bodyPr/>
          <a:lstStyle/>
          <a:p>
            <a:r>
              <a:rPr lang="en-US" sz="1800" b="1" dirty="0"/>
              <a:t>Workflow Logic:</a:t>
            </a:r>
            <a:r>
              <a:rPr lang="en-US" sz="1800" dirty="0"/>
              <a:t> Visualizes the robust execution path where </a:t>
            </a:r>
            <a:r>
              <a:rPr lang="en-US" sz="1800" b="1" dirty="0"/>
              <a:t>Input Validation</a:t>
            </a:r>
            <a:r>
              <a:rPr lang="en-US" sz="1800" dirty="0"/>
              <a:t> triggers parallel </a:t>
            </a:r>
            <a:r>
              <a:rPr lang="en-US" sz="1800" b="1" dirty="0"/>
              <a:t>AI Analysis</a:t>
            </a:r>
            <a:r>
              <a:rPr lang="en-US" sz="1800" dirty="0"/>
              <a:t> (featuring an automatic </a:t>
            </a:r>
            <a:r>
              <a:rPr lang="en-US" sz="1800" b="1" dirty="0"/>
              <a:t>Smart Fallback</a:t>
            </a:r>
            <a:r>
              <a:rPr lang="en-US" sz="1800" dirty="0"/>
              <a:t> fail-safe) and </a:t>
            </a:r>
            <a:r>
              <a:rPr lang="en-US" sz="1800" b="1" dirty="0"/>
              <a:t>Financial Valuation</a:t>
            </a:r>
            <a:r>
              <a:rPr lang="en-US" sz="1800" dirty="0"/>
              <a:t> (Linear Regression), culminating in a unified dashboard and PDF report.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61180-7E8F-0E79-70C0-2BC746398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131" y="2650068"/>
            <a:ext cx="7569201" cy="32332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F1C5D-DFCC-9F0E-D259-5AFD3937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389BB-1C3C-6D78-5E0F-6413CE27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11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AF74-3311-45D1-6234-4FC3428A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91357-769A-B5C0-86AB-F15AFA9A6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66" y="1935921"/>
            <a:ext cx="11218333" cy="406694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Unit Testing:</a:t>
            </a:r>
            <a:r>
              <a:rPr lang="en-US" dirty="0"/>
              <a:t> Verified individual modules like input validation logic and valuation math functions using Python unit test.</a:t>
            </a:r>
          </a:p>
          <a:p>
            <a:r>
              <a:rPr lang="en-US" b="1" dirty="0"/>
              <a:t>Integration Testing:</a:t>
            </a:r>
            <a:r>
              <a:rPr lang="en-US" dirty="0"/>
              <a:t> Ensured seamless data exchange between Flask Backend, React Frontend, and Google Gemini API.</a:t>
            </a:r>
          </a:p>
          <a:p>
            <a:r>
              <a:rPr lang="en-US" b="1" dirty="0"/>
              <a:t>Performance Testing:</a:t>
            </a:r>
            <a:r>
              <a:rPr lang="en-US" dirty="0"/>
              <a:t> Validated system response time remains under </a:t>
            </a:r>
            <a:r>
              <a:rPr lang="en-US" b="1" dirty="0"/>
              <a:t>5 seconds</a:t>
            </a:r>
            <a:r>
              <a:rPr lang="en-US" dirty="0"/>
              <a:t> during concurrent requests.</a:t>
            </a:r>
          </a:p>
          <a:p>
            <a:r>
              <a:rPr lang="en-US" b="1" dirty="0"/>
              <a:t>Resilience Testing:</a:t>
            </a:r>
            <a:r>
              <a:rPr lang="en-US" dirty="0"/>
              <a:t> Simulated network failures to confirm "Smart Fallback" activation without crashing the app.</a:t>
            </a:r>
          </a:p>
          <a:p>
            <a:r>
              <a:rPr lang="en-US" b="1" dirty="0"/>
              <a:t>User Acceptance Testing (UAT):</a:t>
            </a:r>
            <a:r>
              <a:rPr lang="en-US" dirty="0"/>
              <a:t> Conducted beta tests with student entrepreneurs to verify report readability and utility.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07C68-4D4C-7C87-76FB-135AB4C8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21573-22DF-2B19-DECE-4D5A4B33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33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820B-5504-F46D-693D-87578308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Core Algorithm (Valuation)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C4848-7ABC-D005-F134-FBB4ADC85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2096064"/>
            <a:ext cx="11082866" cy="366126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Algorithm Used:</a:t>
            </a:r>
            <a:r>
              <a:rPr lang="en-US" dirty="0"/>
              <a:t> </a:t>
            </a:r>
            <a:r>
              <a:rPr lang="en-US" b="1" dirty="0"/>
              <a:t>Multiple Linear Regression</a:t>
            </a:r>
            <a:r>
              <a:rPr lang="en-US" dirty="0"/>
              <a:t> (Supervised Machine Learning).</a:t>
            </a:r>
          </a:p>
          <a:p>
            <a:r>
              <a:rPr lang="en-US" b="1" dirty="0"/>
              <a:t>Mathematical Model:</a:t>
            </a:r>
            <a:r>
              <a:rPr lang="en-US" dirty="0"/>
              <a:t> Implements a </a:t>
            </a:r>
            <a:r>
              <a:rPr lang="en-US" b="1" dirty="0"/>
              <a:t>Linear Regression</a:t>
            </a:r>
            <a:r>
              <a:rPr lang="en-US" dirty="0"/>
              <a:t> model to predict startup valuation based on key metrics like </a:t>
            </a:r>
            <a:r>
              <a:rPr lang="en-US" b="1" dirty="0"/>
              <a:t>Monthly Revenue</a:t>
            </a:r>
            <a:r>
              <a:rPr lang="en-US" dirty="0"/>
              <a:t>, </a:t>
            </a:r>
            <a:r>
              <a:rPr lang="en-US" b="1" dirty="0"/>
              <a:t>Growth Rate</a:t>
            </a:r>
            <a:r>
              <a:rPr lang="en-US" dirty="0"/>
              <a:t>, and </a:t>
            </a:r>
            <a:r>
              <a:rPr lang="en-US" b="1" dirty="0"/>
              <a:t>Active User Count</a:t>
            </a:r>
            <a:endParaRPr lang="en-US" dirty="0"/>
          </a:p>
          <a:p>
            <a:r>
              <a:rPr lang="en-US" altLang="en-US" b="1" dirty="0">
                <a:effectLst/>
                <a:latin typeface="Google Sans Text"/>
              </a:rPr>
              <a:t>Input Variables :</a:t>
            </a:r>
            <a:r>
              <a:rPr lang="en-US" altLang="en-US" dirty="0">
                <a:effectLst/>
              </a:rPr>
              <a:t> Processes key metrics like Monthly Recurring Revenue (MRR), User Growth Rate, and Burn Rate.</a:t>
            </a:r>
          </a:p>
          <a:p>
            <a:r>
              <a:rPr lang="en-US" altLang="en-US" b="1" dirty="0">
                <a:effectLst/>
                <a:latin typeface="Google Sans Text"/>
              </a:rPr>
              <a:t>Target Output: </a:t>
            </a:r>
            <a:r>
              <a:rPr lang="en-US" altLang="en-US" dirty="0">
                <a:effectLst/>
              </a:rPr>
              <a:t>Predicts the estimated </a:t>
            </a:r>
            <a:r>
              <a:rPr lang="en-US" altLang="en-US" b="1" dirty="0">
                <a:effectLst/>
                <a:latin typeface="Google Sans Text"/>
              </a:rPr>
              <a:t>Pre-Money Valuation</a:t>
            </a:r>
            <a:r>
              <a:rPr lang="en-US" altLang="en-US" dirty="0">
                <a:effectLst/>
              </a:rPr>
              <a:t> of the startup.</a:t>
            </a:r>
            <a:endParaRPr lang="en-US" altLang="en-US" dirty="0"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Training Logic:</a:t>
            </a:r>
            <a:r>
              <a:rPr lang="en-US" dirty="0"/>
              <a:t> Weights are calibrated based on industry standard multipliers (e.g., SaaS = 5x-10x Revenue).</a:t>
            </a:r>
            <a:endParaRPr lang="en-US" altLang="en-US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88A9EB-A61F-FA62-5606-96B4D7F6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3C3AEF-0B13-9720-383D-2A481BDA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16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FF27-2B27-1DF1-D45C-116AB513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Concept 1 (Generative </a:t>
            </a:r>
            <a:r>
              <a:rPr lang="en-US" sz="3200" dirty="0"/>
              <a:t>AI</a:t>
            </a:r>
            <a:r>
              <a:rPr lang="en-US" dirty="0"/>
              <a:t> Integration)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59BC2-1162-7935-5CAF-DCDB8884B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096064"/>
            <a:ext cx="11099800" cy="3263336"/>
          </a:xfrm>
        </p:spPr>
        <p:txBody>
          <a:bodyPr>
            <a:normAutofit/>
          </a:bodyPr>
          <a:lstStyle/>
          <a:p>
            <a:r>
              <a:rPr lang="en-US" b="1" dirty="0"/>
              <a:t>Technology:</a:t>
            </a:r>
            <a:r>
              <a:rPr lang="en-US" dirty="0"/>
              <a:t> </a:t>
            </a:r>
            <a:r>
              <a:rPr lang="en-US" b="1" dirty="0"/>
              <a:t>Google Gemini Pro API</a:t>
            </a:r>
            <a:r>
              <a:rPr lang="en-US" dirty="0"/>
              <a:t> via RESTful integration.</a:t>
            </a:r>
          </a:p>
          <a:p>
            <a:r>
              <a:rPr lang="en-US" b="1" dirty="0"/>
              <a:t>Prompt Engineering:</a:t>
            </a:r>
            <a:r>
              <a:rPr lang="en-US" dirty="0"/>
              <a:t> Uses "Chain-of-Thought" prompting to force the AI to reason before generating a score.</a:t>
            </a:r>
          </a:p>
          <a:p>
            <a:r>
              <a:rPr lang="en-US" b="1" dirty="0"/>
              <a:t>Persona Injection:</a:t>
            </a:r>
            <a:r>
              <a:rPr lang="en-US" dirty="0"/>
              <a:t> System instructs the AI to adopt the persona of a "Venture Capitalist Analyst" for objective critique.</a:t>
            </a:r>
          </a:p>
          <a:p>
            <a:r>
              <a:rPr lang="en-US" altLang="en-US" b="1" dirty="0">
                <a:effectLst/>
                <a:latin typeface="Arial" panose="020B0604020202020204" pitchFamily="34" charset="0"/>
              </a:rPr>
              <a:t>Output Parsing: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 Raw text responses are parsed into structured JSON for the frontend dashboard (SWOT Analysis).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95ECB-B985-458B-BA3E-56343B2A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E1802-1271-C658-2EA4-9F70D3527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78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4196-EE54-93FF-AC78-8B3667AE0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Concept 2 (Smart Fallback Mechanism)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3DD20-C120-AB8B-C8AD-B929C1CEE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2096064"/>
            <a:ext cx="11074400" cy="3695136"/>
          </a:xfrm>
        </p:spPr>
        <p:txBody>
          <a:bodyPr/>
          <a:lstStyle/>
          <a:p>
            <a:r>
              <a:rPr lang="en-US" b="1" dirty="0"/>
              <a:t>Concept:</a:t>
            </a:r>
            <a:r>
              <a:rPr lang="en-US" dirty="0"/>
              <a:t> </a:t>
            </a:r>
            <a:r>
              <a:rPr lang="en-US" b="1" dirty="0"/>
              <a:t>Circuit Breaker Pattern</a:t>
            </a:r>
            <a:r>
              <a:rPr lang="en-US" dirty="0"/>
              <a:t> for high availability.</a:t>
            </a:r>
          </a:p>
          <a:p>
            <a:r>
              <a:rPr lang="en-US" b="1" dirty="0"/>
              <a:t>Trigger Condition:</a:t>
            </a:r>
            <a:r>
              <a:rPr lang="en-US" dirty="0"/>
              <a:t> Automatically activates if the external AI API times out (&gt;5s) or returns a 500 error.</a:t>
            </a:r>
          </a:p>
          <a:p>
            <a:r>
              <a:rPr lang="en-US" b="1" dirty="0"/>
              <a:t>Logic:</a:t>
            </a:r>
            <a:r>
              <a:rPr lang="en-US" dirty="0"/>
              <a:t> Switches execution from the Live API to a local "Logic Template Engine.“</a:t>
            </a:r>
          </a:p>
          <a:p>
            <a:r>
              <a:rPr lang="en-US" b="1" dirty="0"/>
              <a:t>Synthetic Data:</a:t>
            </a:r>
            <a:r>
              <a:rPr lang="en-US" dirty="0"/>
              <a:t> Generates generalized but valid feedback based on the user's industry category (e.g., generic SaaS advice).</a:t>
            </a:r>
          </a:p>
          <a:p>
            <a:r>
              <a:rPr lang="en-US" b="1" dirty="0"/>
              <a:t>Outcome:</a:t>
            </a:r>
            <a:r>
              <a:rPr lang="en-US" dirty="0"/>
              <a:t> Guarantees </a:t>
            </a:r>
            <a:r>
              <a:rPr lang="en-US" b="1" dirty="0"/>
              <a:t>100% system uptime</a:t>
            </a:r>
            <a:r>
              <a:rPr lang="en-US" dirty="0"/>
              <a:t> during demonstrations, preventing "demo effect" crashes.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158F7-965C-EBBC-038B-F68F497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16F8D-D5F3-13C8-EC43-ACF613A1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44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9075-EC82-5733-BE73-253D4CD0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StartupIQ Main Input Dashboard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5444C4-6BEC-F686-527D-1C6E1F722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0667" y="1935922"/>
            <a:ext cx="7619999" cy="382141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F00C9-7935-5BBB-1621-B15C6005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8C5C7-3B28-FBF3-E2E7-03AA5219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25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334F-BDBF-7954-8C8A-1A30FF97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AI Feasibility Analysis INPUT 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3D1028-D2F3-4C5E-1AB1-2DDF8064F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5268" y="2095500"/>
            <a:ext cx="7027332" cy="35433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10772-86FF-F4CE-399F-79CE6DDB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BEC3F-79DF-74D7-6B68-6824531F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58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BD9F-F58E-4E7C-1063-5474BC92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AI Feasibility Analysis Results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F84B94-639B-5753-352F-0A72C0146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00" y="2095500"/>
            <a:ext cx="6900333" cy="36025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1C6AB-87B4-E5E7-4B1D-EBC52405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ABFC1-7AD8-2382-C30B-AE4934BE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43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720D-CC62-C0F9-A562-5DF1743C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Quantitative Valuation Estimate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EFB39F-0093-BE35-7AC6-15DF5438F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1601" y="2167467"/>
            <a:ext cx="7120466" cy="3556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AE171-CB52-EB0C-A14B-85B6E3FA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C08C6-0281-7C3E-82E5-446DF118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05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FE4F-344E-A385-24EB-0B7A1AAF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Exported Feasibility Report (PDF View)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4ADD43-06DA-13AA-96C0-F89DC1618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5933" y="2095500"/>
            <a:ext cx="5122334" cy="36195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3FC86-C3C7-D8A1-BB9F-7F4E4893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88B54-BDEC-08D6-F8D8-4D466138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7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06D3-8125-EC9A-9411-007BD688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DD16F-F06C-453B-4187-B1E240EED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35921"/>
            <a:ext cx="10353762" cy="3855279"/>
          </a:xfrm>
        </p:spPr>
        <p:txBody>
          <a:bodyPr/>
          <a:lstStyle/>
          <a:p>
            <a:r>
              <a:rPr lang="en-US" b="1" dirty="0"/>
              <a:t>Automated Mentorship:</a:t>
            </a:r>
            <a:r>
              <a:rPr lang="en-US" dirty="0"/>
              <a:t> Acts as a scalable, digital co-founder that transforms raw "napkin ideas" into structured business insights.</a:t>
            </a:r>
          </a:p>
          <a:p>
            <a:r>
              <a:rPr lang="en-US" b="1" dirty="0"/>
              <a:t>Hybrid Intelligence:</a:t>
            </a:r>
            <a:r>
              <a:rPr lang="en-US" dirty="0"/>
              <a:t> Uniquely combines qualitative AI reasoning (Gemini) with </a:t>
            </a:r>
            <a:r>
              <a:rPr lang="en-US" dirty="0" err="1"/>
              <a:t>quantitativee</a:t>
            </a:r>
            <a:r>
              <a:rPr lang="en-US" dirty="0"/>
              <a:t> financial modeling (Linear Regression) for holistic validation.</a:t>
            </a:r>
          </a:p>
          <a:p>
            <a:r>
              <a:rPr lang="en-US" b="1" dirty="0"/>
              <a:t>Democratized Access:</a:t>
            </a:r>
            <a:r>
              <a:rPr lang="en-US" dirty="0"/>
              <a:t> Removes barriers for student entrepreneurs by providing expert-level strategic guidance without the high cost.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22328-F89C-0D07-5325-D84DAC1D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600D2-2DF2-2F01-134D-32C28A73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76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57C6D7-9F10-07E9-779A-48EAC79FA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                                 Project Presentation                          SJEC,Mangalore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9DAD4-63D2-638B-E4F7-844BF08B72C8}"/>
              </a:ext>
            </a:extLst>
          </p:cNvPr>
          <p:cNvSpPr txBox="1"/>
          <p:nvPr/>
        </p:nvSpPr>
        <p:spPr>
          <a:xfrm>
            <a:off x="2139803" y="2489743"/>
            <a:ext cx="73851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dirty="0"/>
              <a:t>     THANK  YOU </a:t>
            </a:r>
            <a:endParaRPr lang="en-US" sz="7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9A078-E601-A212-E2C0-818AB72A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427D-B775-4E33-A141-D8668D4DA99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65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1049</TotalTime>
  <Words>1859</Words>
  <Application>Microsoft Office PowerPoint</Application>
  <PresentationFormat>Widescreen</PresentationFormat>
  <Paragraphs>178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Bookman Old Style</vt:lpstr>
      <vt:lpstr>Calibri</vt:lpstr>
      <vt:lpstr>Google Sans Text</vt:lpstr>
      <vt:lpstr>Rockwell</vt:lpstr>
      <vt:lpstr>Damask</vt:lpstr>
      <vt:lpstr>StartupIQ: AI-Powered Startup Feasibility Analyzer</vt:lpstr>
      <vt:lpstr>Introduction</vt:lpstr>
      <vt:lpstr>Background and Motivation</vt:lpstr>
      <vt:lpstr>Abstract</vt:lpstr>
      <vt:lpstr>Objectives</vt:lpstr>
      <vt:lpstr>Methodology</vt:lpstr>
      <vt:lpstr>Key Features</vt:lpstr>
      <vt:lpstr>SRS Introduction</vt:lpstr>
      <vt:lpstr>SRS Project Scope</vt:lpstr>
      <vt:lpstr>SRS USER</vt:lpstr>
      <vt:lpstr>SRS System Architecture</vt:lpstr>
      <vt:lpstr>Functional Requirements</vt:lpstr>
      <vt:lpstr>Non-Functional Requirements</vt:lpstr>
      <vt:lpstr>Literature Review</vt:lpstr>
      <vt:lpstr>Context Flow Diagram</vt:lpstr>
      <vt:lpstr>LEVEL 1 DFD FOR USER</vt:lpstr>
      <vt:lpstr>USE CASE DIAGRAM </vt:lpstr>
      <vt:lpstr>SEQUENCE DIAGRAMS</vt:lpstr>
      <vt:lpstr>ACTIVITY DIAGRAM</vt:lpstr>
      <vt:lpstr>Testing &amp; Validation</vt:lpstr>
      <vt:lpstr>Implementation - Core Algorithm (Valuation)</vt:lpstr>
      <vt:lpstr>Implementation - Concept 1 (Generative AI Integration)</vt:lpstr>
      <vt:lpstr>Implementation - Concept 2 (Smart Fallback Mechanism)</vt:lpstr>
      <vt:lpstr>StartupIQ Main Input Dashboard</vt:lpstr>
      <vt:lpstr>AI Feasibility Analysis INPUT </vt:lpstr>
      <vt:lpstr>AI Feasibility Analysis Results</vt:lpstr>
      <vt:lpstr>Quantitative Valuation Estimate</vt:lpstr>
      <vt:lpstr>Exported Feasibility Report (PDF View)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Srihari Acharya</dc:creator>
  <cp:lastModifiedBy>Srihari Acharya</cp:lastModifiedBy>
  <cp:revision>5</cp:revision>
  <dcterms:created xsi:type="dcterms:W3CDTF">2026-01-19T11:28:12Z</dcterms:created>
  <dcterms:modified xsi:type="dcterms:W3CDTF">2026-01-20T16:56:55Z</dcterms:modified>
</cp:coreProperties>
</file>